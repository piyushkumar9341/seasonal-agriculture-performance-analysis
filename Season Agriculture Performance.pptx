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341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4" y="3714970"/>
            <a:ext cx="5572445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Piyush Kumar</a:t>
            </a:r>
            <a:endParaRPr lang="en-IN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Galgotias College  of Engineering and Technology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2680695"/>
            <a:ext cx="5724843" cy="1034275"/>
          </a:xfrm>
        </p:spPr>
        <p:txBody>
          <a:bodyPr>
            <a:noAutofit/>
          </a:bodyPr>
          <a:lstStyle/>
          <a:p>
            <a:r>
              <a:rPr sz="3200" b="1" dirty="0">
                <a:latin typeface="Algerian" panose="04020705040A02060702" pitchFamily="82" charset="0"/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4" y="4576469"/>
            <a:ext cx="427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b="1" dirty="0"/>
              <a:t>STU6763bbd81644a1734589400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CAEEEBD-779B-4609-A737-4BEFD6474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865128-9162-4A93-BA38-3EDA100D0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FAD7EB-2975-48FE-9C11-06D44B0DB0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F958341-3D13-40CF-B851-BBFE57BD4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E52E91BF-6028-4758-83D2-479E08BC6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B6FFE21-EADD-48B3-B3A3-7D6CEBD0A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1DC66C91-0E5F-44BB-A970-EBE30BD37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B94AAD67-2A87-45F4-89D1-050773C99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7051A6E4-D760-437F-8BB3-F99D4A20F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A6C2BC1-D612-48ED-923C-0F0024DB0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3EC7FFC4-633F-4F2A-AB36-3D953B16B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89" r="-3" b="19846"/>
          <a:stretch>
            <a:fillRect/>
          </a:stretch>
        </p:blipFill>
        <p:spPr>
          <a:xfrm>
            <a:off x="322048" y="-1"/>
            <a:ext cx="4551305" cy="3429000"/>
          </a:xfrm>
          <a:custGeom>
            <a:avLst/>
            <a:gdLst/>
            <a:ahLst/>
            <a:cxnLst/>
            <a:rect l="l" t="t" r="r" b="b"/>
            <a:pathLst>
              <a:path w="4551305" h="3429000">
                <a:moveTo>
                  <a:pt x="509916" y="0"/>
                </a:moveTo>
                <a:lnTo>
                  <a:pt x="4551305" y="0"/>
                </a:lnTo>
                <a:lnTo>
                  <a:pt x="4551305" y="1"/>
                </a:lnTo>
                <a:lnTo>
                  <a:pt x="3693885" y="1"/>
                </a:lnTo>
                <a:lnTo>
                  <a:pt x="3181696" y="3429000"/>
                </a:lnTo>
                <a:lnTo>
                  <a:pt x="0" y="3429000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25" y="609600"/>
            <a:ext cx="5114776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PROBLEM STATEMENT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3" b="2427"/>
          <a:stretch>
            <a:fillRect/>
          </a:stretch>
        </p:blipFill>
        <p:spPr>
          <a:xfrm>
            <a:off x="-10633" y="3428999"/>
            <a:ext cx="3514376" cy="3429001"/>
          </a:xfrm>
          <a:custGeom>
            <a:avLst/>
            <a:gdLst/>
            <a:ahLst/>
            <a:cxnLst/>
            <a:rect l="l" t="t" r="r" b="b"/>
            <a:pathLst>
              <a:path w="3514376" h="3429001">
                <a:moveTo>
                  <a:pt x="332680" y="0"/>
                </a:moveTo>
                <a:lnTo>
                  <a:pt x="3514376" y="0"/>
                </a:lnTo>
                <a:lnTo>
                  <a:pt x="3002186" y="3429001"/>
                </a:lnTo>
                <a:lnTo>
                  <a:pt x="0" y="3429001"/>
                </a:lnTo>
                <a:lnTo>
                  <a:pt x="0" y="2237155"/>
                </a:lnTo>
                <a:close/>
              </a:path>
            </a:pathLst>
          </a:cu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6CB27DD-D98C-4A82-9A5E-422827825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2012" y="3428999"/>
            <a:ext cx="32511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30">
            <a:extLst>
              <a:ext uri="{FF2B5EF4-FFF2-40B4-BE49-F238E27FC236}">
                <a16:creationId xmlns:a16="http://schemas.microsoft.com/office/drawing/2014/main" id="{A912E26A-2737-4A42-92C0-4ED8933C8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59225" y="2160589"/>
            <a:ext cx="5114776" cy="3880773"/>
          </a:xfr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</a:pPr>
            <a:r>
              <a:rPr lang="en-US" sz="1400"/>
              <a:t>Agricultural performance is influenced by </a:t>
            </a:r>
            <a:r>
              <a:rPr lang="en-US" sz="1400" b="1"/>
              <a:t>seasonal environmental conditions, farming practices, resource availability, and market conditions</a:t>
            </a:r>
            <a:r>
              <a:rPr lang="en-US" sz="1400"/>
              <a:t>. </a:t>
            </a:r>
          </a:p>
          <a:p>
            <a:pPr lvl="0"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</a:pPr>
            <a:r>
              <a:rPr lang="en-US" sz="1400"/>
              <a:t>These factors can cause agricultural outcomes to </a:t>
            </a:r>
            <a:r>
              <a:rPr lang="en-US" sz="1400" b="1"/>
              <a:t>vary across different seasons</a:t>
            </a:r>
            <a:r>
              <a:rPr lang="en-US" sz="1400"/>
              <a:t>. </a:t>
            </a:r>
          </a:p>
          <a:p>
            <a:pPr lvl="0"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</a:pPr>
            <a:r>
              <a:rPr lang="en-US" sz="1400"/>
              <a:t>Raw agricultural data does not clearly reveal </a:t>
            </a:r>
            <a:r>
              <a:rPr lang="en-US" sz="1400" b="1"/>
              <a:t>seasonal patterns, trends, and variations</a:t>
            </a:r>
            <a:r>
              <a:rPr lang="en-US" sz="1400"/>
              <a:t>. </a:t>
            </a:r>
          </a:p>
          <a:p>
            <a:pPr lvl="0"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</a:pPr>
            <a:r>
              <a:rPr lang="en-US" sz="1400"/>
              <a:t>The objective is to </a:t>
            </a:r>
            <a:r>
              <a:rPr lang="en-US" sz="1400" b="1"/>
              <a:t>analyze the agricultural dataset</a:t>
            </a:r>
            <a:r>
              <a:rPr lang="en-US" sz="1400"/>
              <a:t> and compare performance across different seasons. </a:t>
            </a:r>
          </a:p>
          <a:p>
            <a:pPr lvl="0"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</a:pPr>
            <a:r>
              <a:rPr lang="en-US" sz="1400"/>
              <a:t>The analysis aims to identify </a:t>
            </a:r>
            <a:r>
              <a:rPr lang="en-US" sz="1400" b="1"/>
              <a:t>meaningful patterns, relationships, trends, and seasonal differences</a:t>
            </a:r>
            <a:r>
              <a:rPr lang="en-US" sz="1400"/>
              <a:t> in agricultural performance. </a:t>
            </a:r>
          </a:p>
          <a:p>
            <a:pPr lvl="0"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</a:pPr>
            <a:r>
              <a:rPr lang="en-US" sz="1400"/>
              <a:t>These insights can help in understanding how </a:t>
            </a:r>
            <a:r>
              <a:rPr lang="en-US" sz="1400" b="1"/>
              <a:t>seasonal conditions affect agricultural productivity and outcomes</a:t>
            </a:r>
            <a:r>
              <a:rPr lang="en-US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1183425"/>
            <a:ext cx="9357361" cy="4760175"/>
          </a:xfrm>
        </p:spPr>
        <p:txBody>
          <a:bodyPr>
            <a:noAutofit/>
          </a:bodyPr>
          <a:lstStyle/>
          <a:p>
            <a:r>
              <a:rPr lang="en-US" sz="1500" b="0" dirty="0">
                <a:latin typeface="+mn-lt"/>
              </a:rPr>
              <a:t>1. Analyzed 4,000 farm-level agricultural records. </a:t>
            </a:r>
            <a:br>
              <a:rPr lang="en-US" sz="1500" b="0" dirty="0">
                <a:latin typeface="+mn-lt"/>
              </a:rPr>
            </a:b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2. Dataset covers 8 states, 10 districts, 8 crops, and 3 cropping seasons — Kharif, Rabi, and Zaid. </a:t>
            </a:r>
            <a:br>
              <a:rPr lang="en-US" sz="1500" b="0" dirty="0">
                <a:latin typeface="+mn-lt"/>
              </a:rPr>
            </a:b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3. Used Python with Pandas, Matplotlib, Seaborn, and SciPy for data analysis. </a:t>
            </a:r>
            <a:br>
              <a:rPr lang="en-US" sz="1500" b="0" dirty="0">
                <a:latin typeface="+mn-lt"/>
              </a:rPr>
            </a:b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4. Performed data cleaning using: </a:t>
            </a: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    Season-wise imputation </a:t>
            </a: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    IQR-based outlier capping </a:t>
            </a:r>
            <a:br>
              <a:rPr lang="en-US" sz="1500" b="0" dirty="0">
                <a:latin typeface="+mn-lt"/>
              </a:rPr>
            </a:b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5. Analyzed seasonal variations in: </a:t>
            </a: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    Crop Yield </a:t>
            </a: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    Profitability </a:t>
            </a: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    Water-Use Efficiency </a:t>
            </a: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    Disease and Pest Risk </a:t>
            </a:r>
            <a:br>
              <a:rPr lang="en-US" sz="1500" b="0" dirty="0">
                <a:latin typeface="+mn-lt"/>
              </a:rPr>
            </a:b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6. Applied ANOVA testing to validate the significance of seasonal differences. </a:t>
            </a:r>
            <a:br>
              <a:rPr lang="en-US" sz="1500" b="0" dirty="0">
                <a:latin typeface="+mn-lt"/>
              </a:rPr>
            </a:br>
            <a:br>
              <a:rPr lang="en-US" sz="1500" b="0" dirty="0">
                <a:latin typeface="+mn-lt"/>
              </a:rPr>
            </a:br>
            <a:r>
              <a:rPr lang="en-US" sz="1500" b="0" dirty="0">
                <a:latin typeface="+mn-lt"/>
              </a:rPr>
              <a:t>7. Developed evidence-based recommendations for effective seasonal agricultural planning.</a:t>
            </a:r>
            <a:br>
              <a:rPr lang="en-US" sz="1500" b="0" dirty="0">
                <a:latin typeface="+mn-lt"/>
              </a:rPr>
            </a:br>
            <a:endParaRPr lang="en-IN" sz="1500" b="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49C70F-3DCF-FC64-0455-B4F7044F925F}"/>
              </a:ext>
            </a:extLst>
          </p:cNvPr>
          <p:cNvSpPr txBox="1"/>
          <p:nvPr/>
        </p:nvSpPr>
        <p:spPr>
          <a:xfrm>
            <a:off x="675957" y="365761"/>
            <a:ext cx="652748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3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30000"/>
              </a:lnSpc>
            </a:pPr>
            <a:r>
              <a:rPr sz="1800" dirty="0"/>
              <a:t>Farmers &amp; farmer cooperatives — to choose crops/irrigation methods suited to each season</a:t>
            </a:r>
            <a:endParaRPr lang="en-IN" sz="3600" dirty="0"/>
          </a:p>
          <a:p>
            <a:pPr>
              <a:lnSpc>
                <a:spcPct val="130000"/>
              </a:lnSpc>
            </a:pPr>
            <a:r>
              <a:rPr sz="1800" dirty="0"/>
              <a:t>State agriculture departments &amp; extension officers — for evidence-based seasonal planning</a:t>
            </a:r>
          </a:p>
          <a:p>
            <a:pPr>
              <a:lnSpc>
                <a:spcPct val="130000"/>
              </a:lnSpc>
            </a:pPr>
            <a:r>
              <a:rPr sz="1800" dirty="0"/>
              <a:t>Agri-input and irrigation companies — to target drip-irrigation adoption in water-scarce seasons</a:t>
            </a:r>
          </a:p>
          <a:p>
            <a:pPr>
              <a:lnSpc>
                <a:spcPct val="130000"/>
              </a:lnSpc>
            </a:pPr>
            <a:r>
              <a:rPr sz="1800" dirty="0"/>
              <a:t>Agricultural economists &amp; researchers — to study seasonal drivers of yield and profitability</a:t>
            </a:r>
          </a:p>
          <a:p>
            <a:pPr>
              <a:lnSpc>
                <a:spcPct val="130000"/>
              </a:lnSpc>
            </a:pPr>
            <a:r>
              <a:rPr sz="1800" dirty="0"/>
              <a:t>Crop insurance &amp; financial institutions — to assess seasonal risk (e.g. Zaid loss patterns)</a:t>
            </a:r>
          </a:p>
          <a:p>
            <a:pPr>
              <a:lnSpc>
                <a:spcPct val="130000"/>
              </a:lnSpc>
            </a:pPr>
            <a:r>
              <a:rPr sz="1800" dirty="0"/>
              <a:t>Policy makers — to design subsidies/support programs tailored to season-specific challenges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WHO ARE THE END USERS?</a:t>
            </a:r>
            <a:endParaRPr lang="en-IN" sz="2000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59" y="1463105"/>
            <a:ext cx="9027702" cy="5243448"/>
          </a:xfrm>
        </p:spPr>
        <p:txBody>
          <a:bodyPr/>
          <a:lstStyle/>
          <a:p>
            <a:pPr lvl="1">
              <a:lnSpc>
                <a:spcPct val="130000"/>
              </a:lnSpc>
            </a:pPr>
            <a:r>
              <a:rPr sz="1800" dirty="0"/>
              <a:t>Python 3 — core programming language for the analysis</a:t>
            </a:r>
            <a:endParaRPr lang="en-IN" dirty="0"/>
          </a:p>
          <a:p>
            <a:pPr>
              <a:lnSpc>
                <a:spcPct val="130000"/>
              </a:lnSpc>
            </a:pPr>
            <a:r>
              <a:rPr sz="1800" dirty="0"/>
              <a:t>Pandas &amp; NumPy — data cleaning, transformation and aggregation</a:t>
            </a:r>
          </a:p>
          <a:p>
            <a:pPr>
              <a:lnSpc>
                <a:spcPct val="130000"/>
              </a:lnSpc>
            </a:pPr>
            <a:r>
              <a:rPr sz="1800" dirty="0"/>
              <a:t>Matplotlib &amp; Seaborn — statistical data visualization</a:t>
            </a:r>
          </a:p>
          <a:p>
            <a:pPr>
              <a:lnSpc>
                <a:spcPct val="130000"/>
              </a:lnSpc>
            </a:pPr>
            <a:r>
              <a:rPr sz="1800" dirty="0"/>
              <a:t>SciPy (stats) — ANOVA significance testing</a:t>
            </a:r>
          </a:p>
          <a:p>
            <a:r>
              <a:rPr sz="1800" dirty="0"/>
              <a:t>Jupyter Notebook</a:t>
            </a:r>
            <a:r>
              <a:rPr lang="en-US" sz="1800" dirty="0"/>
              <a:t> </a:t>
            </a:r>
            <a:r>
              <a:rPr lang="en-IN" sz="1800" dirty="0"/>
              <a:t>(executed via VS Code)</a:t>
            </a:r>
            <a:r>
              <a:rPr sz="1800" dirty="0"/>
              <a:t> — end-to-end documented analysis workflow</a:t>
            </a:r>
          </a:p>
          <a:p>
            <a:pPr>
              <a:lnSpc>
                <a:spcPct val="130000"/>
              </a:lnSpc>
            </a:pPr>
            <a:r>
              <a:rPr sz="1800" dirty="0"/>
              <a:t>Git &amp; GitHub — version control and project submission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675957" y="1300000"/>
            <a:ext cx="9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2C5F2D"/>
                </a:solidFill>
              </a:rPr>
              <a:t>Kharif shows the highest average yield, Zaid the lowest.</a:t>
            </a:r>
          </a:p>
        </p:txBody>
      </p:sp>
      <p:pic>
        <p:nvPicPr>
          <p:cNvPr id="25" name="Picture 24" descr="01_yield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978" y="2050000"/>
            <a:ext cx="6230000" cy="4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600" i="1" dirty="0">
                <a:solidFill>
                  <a:srgbClr val="2C5F2D"/>
                </a:solidFill>
              </a:rPr>
              <a:t>Kharif is the most profitable season; Zaid runs a loss on average.</a:t>
            </a:r>
            <a:endParaRPr lang="en-IN" dirty="0"/>
          </a:p>
        </p:txBody>
      </p:sp>
      <p:pic>
        <p:nvPicPr>
          <p:cNvPr id="31" name="Picture 30" descr="02_profit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978" y="2050000"/>
            <a:ext cx="6230000" cy="4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600" i="1" dirty="0">
                <a:solidFill>
                  <a:srgbClr val="2C5F2D"/>
                </a:solidFill>
              </a:rPr>
              <a:t>Water-use efficiency (r ~ 0.77) is the strongest driver of yield.</a:t>
            </a:r>
            <a:endParaRPr lang="en-IN" dirty="0"/>
          </a:p>
        </p:txBody>
      </p:sp>
      <p:pic>
        <p:nvPicPr>
          <p:cNvPr id="31" name="Picture 30" descr="05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264" y="2050000"/>
            <a:ext cx="5721428" cy="4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600" i="1">
                <a:solidFill>
                  <a:srgbClr val="2C5F2D"/>
                </a:solidFill>
              </a:rPr>
              <a:t>Drip irrigation is the most water-efficient method in every season.</a:t>
            </a:r>
            <a:endParaRPr lang="en-IN" dirty="0"/>
          </a:p>
        </p:txBody>
      </p:sp>
      <p:pic>
        <p:nvPicPr>
          <p:cNvPr id="31" name="Picture 30" descr="04_water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978" y="2050000"/>
            <a:ext cx="7120000" cy="4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600" i="1" dirty="0">
                <a:solidFill>
                  <a:srgbClr val="2C5F2D"/>
                </a:solidFill>
              </a:rPr>
              <a:t>Kharif &gt; Rabi &gt; Zaid yield ordering holds across all 8 crops.</a:t>
            </a:r>
            <a:endParaRPr lang="en-IN" dirty="0"/>
          </a:p>
        </p:txBody>
      </p:sp>
      <p:pic>
        <p:nvPicPr>
          <p:cNvPr id="31" name="Picture 30" descr="07_crop_season_yield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145" y="2050000"/>
            <a:ext cx="5191666" cy="4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4951899-B99C-47AB-9C7C-16264D7A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4D217E-92A1-48B2-B6BF-8B6A35AF9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9582FD9-95AB-4339-8A07-BAD420BE1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23">
              <a:extLst>
                <a:ext uri="{FF2B5EF4-FFF2-40B4-BE49-F238E27FC236}">
                  <a16:creationId xmlns:a16="http://schemas.microsoft.com/office/drawing/2014/main" id="{6778DC79-DE09-4F89-81B1-275C542D7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EAEC370A-1F34-4D8E-B065-81F6F568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A816EDF3-D9EE-488C-AFDC-022381513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Rectangle 27">
              <a:extLst>
                <a:ext uri="{FF2B5EF4-FFF2-40B4-BE49-F238E27FC236}">
                  <a16:creationId xmlns:a16="http://schemas.microsoft.com/office/drawing/2014/main" id="{E8330BD4-97D9-4D24-815A-0E557B04F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Rectangle 28">
              <a:extLst>
                <a:ext uri="{FF2B5EF4-FFF2-40B4-BE49-F238E27FC236}">
                  <a16:creationId xmlns:a16="http://schemas.microsoft.com/office/drawing/2014/main" id="{EA8EDE67-BAC0-478C-99D9-BBC5AD53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33DFB3F3-2523-4F1F-BC2B-B97C172F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5E5660E4-7443-4FCC-AD43-9D1AE972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4EDF9C36-B365-4426-85B9-82E0DE187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FUTURE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23" r="25067" b="-1"/>
          <a:stretch>
            <a:fillRect/>
          </a:stretch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ECD25CC7-FC66-488C-8D61-0FE7ECF16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2849562" y="2160589"/>
            <a:ext cx="6424440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•  Extend to multi-year time-series data to capture year-on-year seasonal trends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•  Build a regression/ML model to quantify each factor's marginal effect on yield &amp; profit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•  Develop a seasonal crop &amp; irrigation-method recommendation system for farmers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•  Incorporate satellite/weather-forecast data for proactive seasonal planning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•  Extend coverage to more states/districts to improve generalizability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•  Create an interactive dashboard for real-time seasonal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5AFB369-4673-4727-A7CD-D86AFE0AE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50709826-4D6B-4A97-8DB3-5DA166626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263F58-6EE6-45B3-9BF2-C0BD5D30A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197CE03-EB81-4718-BEA1-C2D488961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23">
              <a:extLst>
                <a:ext uri="{FF2B5EF4-FFF2-40B4-BE49-F238E27FC236}">
                  <a16:creationId xmlns:a16="http://schemas.microsoft.com/office/drawing/2014/main" id="{A3451629-72D6-4E33-A99A-40FAF7445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E04F0FD4-BCD5-4435-A6B5-A2E69303B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DE110F09-1C81-4E73-B5E9-D857CD879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Rectangle 27">
              <a:extLst>
                <a:ext uri="{FF2B5EF4-FFF2-40B4-BE49-F238E27FC236}">
                  <a16:creationId xmlns:a16="http://schemas.microsoft.com/office/drawing/2014/main" id="{273A9C01-06BD-4E8E-8BBF-2E2A9ECF4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Rectangle 28">
              <a:extLst>
                <a:ext uri="{FF2B5EF4-FFF2-40B4-BE49-F238E27FC236}">
                  <a16:creationId xmlns:a16="http://schemas.microsoft.com/office/drawing/2014/main" id="{B206C9B2-27BE-4B6F-A4D0-485FBBEB5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2E7D673E-0C5C-4F2B-B46E-3E9286B9E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F0F78B34-9B26-4CA9-B8F0-B9638730F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34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4078747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5380563" y="4050833"/>
            <a:ext cx="3893440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/>
              <a:t>https://github.com/PiyushKumar9341/Seasonal-Agriculture-Performance-Analysis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/>
              <a:t>VOIS Course completion certificate - </a:t>
            </a:r>
            <a:br>
              <a:rPr lang="en-IN" sz="3200"/>
            </a:br>
            <a:r>
              <a:rPr lang="en-IN" sz="3200"/>
              <a:t>Course name- </a:t>
            </a:r>
            <a:r>
              <a:rPr lang="en-IN" sz="3200">
                <a:solidFill>
                  <a:schemeClr val="accent1"/>
                </a:solidFill>
              </a:rPr>
              <a:t>Data Visualization </a:t>
            </a: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AA8C30-35E7-2F67-19AD-B9617E872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454608"/>
            <a:ext cx="6935739" cy="490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160" y="1696720"/>
            <a:ext cx="11253839" cy="4632959"/>
          </a:xfrm>
        </p:spPr>
        <p:txBody>
          <a:bodyPr>
            <a:normAutofit/>
          </a:bodyPr>
          <a:lstStyle/>
          <a:p>
            <a:endParaRPr lang="en-US" sz="7200" dirty="0"/>
          </a:p>
          <a:p>
            <a:r>
              <a:rPr lang="en-US" sz="7200" dirty="0">
                <a:latin typeface="Algerian" panose="04020705040A02060702" pitchFamily="82" charset="0"/>
              </a:rPr>
              <a:t>THANK YOU </a:t>
            </a:r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2601</TotalTime>
  <Words>556</Words>
  <Application>Microsoft Office PowerPoint</Application>
  <PresentationFormat>Widescreen</PresentationFormat>
  <Paragraphs>52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STATEMENT</vt:lpstr>
      <vt:lpstr>1. Analyzed 4,000 farm-level agricultural records.   2. Dataset covers 8 states, 10 districts, 8 crops, and 3 cropping seasons — Kharif, Rabi, and Zaid.   3. Used Python with Pandas, Matplotlib, Seaborn, and SciPy for data analysis.   4. Performed data cleaning using:      Season-wise imputation      IQR-based outlier capping   5. Analyzed seasonal variations in:      Crop Yield      Profitability      Water-Use Efficiency      Disease and Pest Risk   6. Applied ANOVA testing to validate the significance of seasonal differences.   7. Developed evidence-based recommendations for effective seasonal agricultural planning.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Thakur Sahab</cp:lastModifiedBy>
  <cp:revision>101</cp:revision>
  <dcterms:created xsi:type="dcterms:W3CDTF">2021-07-11T13:13:15Z</dcterms:created>
  <dcterms:modified xsi:type="dcterms:W3CDTF">2026-09-08T12:03:52Z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